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D Dy_Xer" initials="VD" lastIdx="1" clrIdx="0">
    <p:extLst>
      <p:ext uri="{19B8F6BF-5375-455C-9EA6-DF929625EA0E}">
        <p15:presenceInfo xmlns:p15="http://schemas.microsoft.com/office/powerpoint/2012/main" userId="084d489d79e6e6c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12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bit.ly/2TtBDfr" TargetMode="External"/><Relationship Id="rId5" Type="http://schemas.openxmlformats.org/officeDocument/2006/relationships/hyperlink" Target="https://bit.ly/3A1uf1Q" TargetMode="Externa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9;p2"/>
          <p:cNvGrpSpPr/>
          <p:nvPr/>
        </p:nvGrpSpPr>
        <p:grpSpPr>
          <a:xfrm>
            <a:off x="84960" y="78480"/>
            <a:ext cx="8973720" cy="4924800"/>
            <a:chOff x="84960" y="78480"/>
            <a:chExt cx="8973720" cy="4924800"/>
          </a:xfrm>
        </p:grpSpPr>
        <p:pic>
          <p:nvPicPr>
            <p:cNvPr id="3" name="Google Shape;10;p2"/>
            <p:cNvPicPr/>
            <p:nvPr/>
          </p:nvPicPr>
          <p:blipFill>
            <a:blip r:embed="rId2"/>
            <a:stretch/>
          </p:blipFill>
          <p:spPr>
            <a:xfrm>
              <a:off x="84960" y="78480"/>
              <a:ext cx="8973720" cy="4924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" name="Google Shape;11;p2"/>
            <p:cNvPicPr/>
            <p:nvPr/>
          </p:nvPicPr>
          <p:blipFill>
            <a:blip r:embed="rId3"/>
            <a:stretch/>
          </p:blipFill>
          <p:spPr>
            <a:xfrm>
              <a:off x="270360" y="196560"/>
              <a:ext cx="8644680" cy="3078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5" name="PlaceHolder 1"/>
          <p:cNvSpPr>
            <a:spLocks noGrp="1"/>
          </p:cNvSpPr>
          <p:nvPr>
            <p:ph type="body"/>
          </p:nvPr>
        </p:nvSpPr>
        <p:spPr>
          <a:xfrm>
            <a:off x="5805360" y="1317240"/>
            <a:ext cx="2831400" cy="2647800"/>
          </a:xfrm>
          <a:prstGeom prst="rect">
            <a:avLst/>
          </a:prstGeom>
          <a:noFill/>
          <a:ln w="19080">
            <a:solidFill>
              <a:schemeClr val="dk2"/>
            </a:solidFill>
            <a:round/>
          </a:ln>
        </p:spPr>
        <p:txBody>
          <a:bodyPr lIns="90000" tIns="45000" rIns="90000" bIns="45000" anchor="t">
            <a:normAutofit fontScale="3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606960" y="849600"/>
            <a:ext cx="5060520" cy="246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7" name="Google Shape;15;p2"/>
          <p:cNvPicPr/>
          <p:nvPr/>
        </p:nvPicPr>
        <p:blipFill>
          <a:blip r:embed="rId3"/>
          <a:srcRect l="61974"/>
          <a:stretch/>
        </p:blipFill>
        <p:spPr>
          <a:xfrm>
            <a:off x="5805360" y="1051560"/>
            <a:ext cx="2831400" cy="265320"/>
          </a:xfrm>
          <a:prstGeom prst="rect">
            <a:avLst/>
          </a:prstGeom>
          <a:noFill/>
          <a:ln w="9525">
            <a:solidFill>
              <a:srgbClr val="707070"/>
            </a:solidFill>
            <a:rou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oogle Shape;71;p11"/>
          <p:cNvGrpSpPr/>
          <p:nvPr/>
        </p:nvGrpSpPr>
        <p:grpSpPr>
          <a:xfrm>
            <a:off x="84960" y="78480"/>
            <a:ext cx="8973720" cy="4924800"/>
            <a:chOff x="84960" y="78480"/>
            <a:chExt cx="8973720" cy="4924800"/>
          </a:xfrm>
        </p:grpSpPr>
        <p:pic>
          <p:nvPicPr>
            <p:cNvPr id="9" name="Google Shape;72;p11"/>
            <p:cNvPicPr/>
            <p:nvPr/>
          </p:nvPicPr>
          <p:blipFill>
            <a:blip r:embed="rId2"/>
            <a:stretch/>
          </p:blipFill>
          <p:spPr>
            <a:xfrm>
              <a:off x="84960" y="78480"/>
              <a:ext cx="8973720" cy="4924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" name="Google Shape;73;p11"/>
            <p:cNvPicPr/>
            <p:nvPr/>
          </p:nvPicPr>
          <p:blipFill>
            <a:blip r:embed="rId3"/>
            <a:stretch/>
          </p:blipFill>
          <p:spPr>
            <a:xfrm>
              <a:off x="270360" y="196560"/>
              <a:ext cx="8644680" cy="3078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284120" y="1953000"/>
            <a:ext cx="6575760" cy="799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accent1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oogle Shape;113;p17"/>
          <p:cNvGrpSpPr/>
          <p:nvPr/>
        </p:nvGrpSpPr>
        <p:grpSpPr>
          <a:xfrm>
            <a:off x="84960" y="78480"/>
            <a:ext cx="8973720" cy="4924800"/>
            <a:chOff x="84960" y="78480"/>
            <a:chExt cx="8973720" cy="4924800"/>
          </a:xfrm>
        </p:grpSpPr>
        <p:pic>
          <p:nvPicPr>
            <p:cNvPr id="35" name="Google Shape;114;p17"/>
            <p:cNvPicPr/>
            <p:nvPr/>
          </p:nvPicPr>
          <p:blipFill>
            <a:blip r:embed="rId2"/>
            <a:stretch/>
          </p:blipFill>
          <p:spPr>
            <a:xfrm>
              <a:off x="84960" y="78480"/>
              <a:ext cx="8973720" cy="4924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6" name="Google Shape;115;p17"/>
            <p:cNvPicPr/>
            <p:nvPr/>
          </p:nvPicPr>
          <p:blipFill>
            <a:blip r:embed="rId3"/>
            <a:stretch/>
          </p:blipFill>
          <p:spPr>
            <a:xfrm>
              <a:off x="270360" y="196560"/>
              <a:ext cx="8644680" cy="3078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144;p20"/>
          <p:cNvGrpSpPr/>
          <p:nvPr/>
        </p:nvGrpSpPr>
        <p:grpSpPr>
          <a:xfrm>
            <a:off x="84960" y="78480"/>
            <a:ext cx="8973720" cy="4924800"/>
            <a:chOff x="84960" y="78480"/>
            <a:chExt cx="8973720" cy="4924800"/>
          </a:xfrm>
        </p:grpSpPr>
        <p:pic>
          <p:nvPicPr>
            <p:cNvPr id="54" name="Google Shape;145;p20"/>
            <p:cNvPicPr/>
            <p:nvPr/>
          </p:nvPicPr>
          <p:blipFill>
            <a:blip r:embed="rId2"/>
            <a:stretch/>
          </p:blipFill>
          <p:spPr>
            <a:xfrm>
              <a:off x="84960" y="78480"/>
              <a:ext cx="8973720" cy="4924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5" name="Google Shape;146;p20"/>
            <p:cNvPicPr/>
            <p:nvPr/>
          </p:nvPicPr>
          <p:blipFill>
            <a:blip r:embed="rId3"/>
            <a:stretch/>
          </p:blipFill>
          <p:spPr>
            <a:xfrm>
              <a:off x="270360" y="196560"/>
              <a:ext cx="8644680" cy="3078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792720" y="974880"/>
            <a:ext cx="3876120" cy="75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5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title"/>
          </p:nvPr>
        </p:nvSpPr>
        <p:spPr>
          <a:xfrm>
            <a:off x="4298760" y="2743560"/>
            <a:ext cx="3928680" cy="75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5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17;p3"/>
          <p:cNvGrpSpPr/>
          <p:nvPr/>
        </p:nvGrpSpPr>
        <p:grpSpPr>
          <a:xfrm>
            <a:off x="84960" y="78480"/>
            <a:ext cx="8973720" cy="4924800"/>
            <a:chOff x="84960" y="78480"/>
            <a:chExt cx="8973720" cy="4924800"/>
          </a:xfrm>
        </p:grpSpPr>
        <p:pic>
          <p:nvPicPr>
            <p:cNvPr id="59" name="Google Shape;18;p3"/>
            <p:cNvPicPr/>
            <p:nvPr/>
          </p:nvPicPr>
          <p:blipFill>
            <a:blip r:embed="rId2"/>
            <a:stretch/>
          </p:blipFill>
          <p:spPr>
            <a:xfrm>
              <a:off x="84960" y="78480"/>
              <a:ext cx="8973720" cy="4924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0" name="Google Shape;19;p3"/>
            <p:cNvPicPr/>
            <p:nvPr/>
          </p:nvPicPr>
          <p:blipFill>
            <a:blip r:embed="rId3"/>
            <a:stretch/>
          </p:blipFill>
          <p:spPr>
            <a:xfrm>
              <a:off x="270360" y="196560"/>
              <a:ext cx="8644680" cy="30780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61" name="Google Shape;20;p3"/>
          <p:cNvPicPr/>
          <p:nvPr/>
        </p:nvPicPr>
        <p:blipFill>
          <a:blip r:embed="rId4"/>
          <a:stretch/>
        </p:blipFill>
        <p:spPr>
          <a:xfrm>
            <a:off x="3233160" y="3371400"/>
            <a:ext cx="5515200" cy="135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Google Shape;21;p3"/>
          <p:cNvPicPr/>
          <p:nvPr/>
        </p:nvPicPr>
        <p:blipFill>
          <a:blip r:embed="rId5"/>
          <a:stretch/>
        </p:blipFill>
        <p:spPr>
          <a:xfrm>
            <a:off x="555480" y="817920"/>
            <a:ext cx="5398920" cy="302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860480" y="1532520"/>
            <a:ext cx="3458520" cy="1520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4" name="PlaceHolder 2"/>
          <p:cNvSpPr>
            <a:spLocks noGrp="1"/>
          </p:cNvSpPr>
          <p:nvPr>
            <p:ph type="title"/>
          </p:nvPr>
        </p:nvSpPr>
        <p:spPr>
          <a:xfrm>
            <a:off x="779760" y="1910880"/>
            <a:ext cx="777960" cy="763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50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5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387120" y="947160"/>
            <a:ext cx="2107080" cy="2067120"/>
          </a:xfrm>
          <a:prstGeom prst="rect">
            <a:avLst/>
          </a:prstGeom>
          <a:noFill/>
          <a:ln w="19080">
            <a:solidFill>
              <a:schemeClr val="dk2"/>
            </a:solidFill>
            <a:round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152;p21"/>
          <p:cNvGrpSpPr/>
          <p:nvPr/>
        </p:nvGrpSpPr>
        <p:grpSpPr>
          <a:xfrm>
            <a:off x="84960" y="78480"/>
            <a:ext cx="8973720" cy="4924800"/>
            <a:chOff x="84960" y="78480"/>
            <a:chExt cx="8973720" cy="4924800"/>
          </a:xfrm>
        </p:grpSpPr>
        <p:pic>
          <p:nvPicPr>
            <p:cNvPr id="67" name="Google Shape;153;p21"/>
            <p:cNvPicPr/>
            <p:nvPr/>
          </p:nvPicPr>
          <p:blipFill>
            <a:blip r:embed="rId2"/>
            <a:stretch/>
          </p:blipFill>
          <p:spPr>
            <a:xfrm>
              <a:off x="84960" y="78480"/>
              <a:ext cx="8973720" cy="4924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8" name="Google Shape;154;p21"/>
            <p:cNvPicPr/>
            <p:nvPr/>
          </p:nvPicPr>
          <p:blipFill>
            <a:blip r:embed="rId3"/>
            <a:stretch/>
          </p:blipFill>
          <p:spPr>
            <a:xfrm>
              <a:off x="270360" y="196560"/>
              <a:ext cx="8644680" cy="3078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69600" y="1143000"/>
            <a:ext cx="3852000" cy="563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4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70" name="Google Shape;157;p21"/>
          <p:cNvPicPr/>
          <p:nvPr/>
        </p:nvPicPr>
        <p:blipFill>
          <a:blip r:embed="rId4"/>
          <a:srcRect l="19759" t="14674" r="19444" b="47101"/>
          <a:stretch/>
        </p:blipFill>
        <p:spPr>
          <a:xfrm>
            <a:off x="4549320" y="1778400"/>
            <a:ext cx="3952800" cy="248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Google Shape;158;p21"/>
          <p:cNvSpPr/>
          <p:nvPr/>
        </p:nvSpPr>
        <p:spPr>
          <a:xfrm>
            <a:off x="4865400" y="2464560"/>
            <a:ext cx="3320280" cy="51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Roboto Mono"/>
                <a:ea typeface="Roboto Mono"/>
                <a:hlinkClick r:id="rId5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Roboto Mono"/>
                <a:ea typeface="Roboto Mono"/>
                <a:hlinkClick r:id="rId6"/>
              </a:rPr>
              <a:t>Freepik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160;p22"/>
          <p:cNvGrpSpPr/>
          <p:nvPr/>
        </p:nvGrpSpPr>
        <p:grpSpPr>
          <a:xfrm>
            <a:off x="84960" y="78480"/>
            <a:ext cx="8973720" cy="4924800"/>
            <a:chOff x="84960" y="78480"/>
            <a:chExt cx="8973720" cy="4924800"/>
          </a:xfrm>
        </p:grpSpPr>
        <p:pic>
          <p:nvPicPr>
            <p:cNvPr id="73" name="Google Shape;161;p22"/>
            <p:cNvPicPr/>
            <p:nvPr/>
          </p:nvPicPr>
          <p:blipFill>
            <a:blip r:embed="rId2"/>
            <a:stretch/>
          </p:blipFill>
          <p:spPr>
            <a:xfrm>
              <a:off x="84960" y="78480"/>
              <a:ext cx="8973720" cy="4924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4" name="Google Shape;162;p22"/>
            <p:cNvPicPr/>
            <p:nvPr/>
          </p:nvPicPr>
          <p:blipFill>
            <a:blip r:embed="rId3"/>
            <a:stretch/>
          </p:blipFill>
          <p:spPr>
            <a:xfrm>
              <a:off x="270360" y="196560"/>
              <a:ext cx="8644680" cy="3078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27;p4"/>
          <p:cNvGrpSpPr/>
          <p:nvPr/>
        </p:nvGrpSpPr>
        <p:grpSpPr>
          <a:xfrm>
            <a:off x="84960" y="78480"/>
            <a:ext cx="8973720" cy="4924800"/>
            <a:chOff x="84960" y="78480"/>
            <a:chExt cx="8973720" cy="4924800"/>
          </a:xfrm>
        </p:grpSpPr>
        <p:pic>
          <p:nvPicPr>
            <p:cNvPr id="76" name="Google Shape;28;p4"/>
            <p:cNvPicPr/>
            <p:nvPr/>
          </p:nvPicPr>
          <p:blipFill>
            <a:blip r:embed="rId2"/>
            <a:stretch/>
          </p:blipFill>
          <p:spPr>
            <a:xfrm>
              <a:off x="84960" y="78480"/>
              <a:ext cx="8973720" cy="4924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7" name="Google Shape;29;p4"/>
            <p:cNvPicPr/>
            <p:nvPr/>
          </p:nvPicPr>
          <p:blipFill>
            <a:blip r:embed="rId3"/>
            <a:stretch/>
          </p:blipFill>
          <p:spPr>
            <a:xfrm>
              <a:off x="270360" y="196560"/>
              <a:ext cx="8644680" cy="3078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720000" y="115236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41;p6"/>
          <p:cNvGrpSpPr/>
          <p:nvPr/>
        </p:nvGrpSpPr>
        <p:grpSpPr>
          <a:xfrm>
            <a:off x="84960" y="78480"/>
            <a:ext cx="8973720" cy="4924800"/>
            <a:chOff x="84960" y="78480"/>
            <a:chExt cx="8973720" cy="4924800"/>
          </a:xfrm>
        </p:grpSpPr>
        <p:pic>
          <p:nvPicPr>
            <p:cNvPr id="84" name="Google Shape;42;p6"/>
            <p:cNvPicPr/>
            <p:nvPr/>
          </p:nvPicPr>
          <p:blipFill>
            <a:blip r:embed="rId2"/>
            <a:stretch/>
          </p:blipFill>
          <p:spPr>
            <a:xfrm>
              <a:off x="84960" y="78480"/>
              <a:ext cx="8973720" cy="4924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5" name="Google Shape;43;p6"/>
            <p:cNvPicPr/>
            <p:nvPr/>
          </p:nvPicPr>
          <p:blipFill>
            <a:blip r:embed="rId3"/>
            <a:stretch/>
          </p:blipFill>
          <p:spPr>
            <a:xfrm>
              <a:off x="270360" y="196560"/>
              <a:ext cx="8644680" cy="3078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342000" y="654840"/>
            <a:ext cx="8460000" cy="601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87" name="Google Shape;45;p6"/>
          <p:cNvPicPr/>
          <p:nvPr/>
        </p:nvPicPr>
        <p:blipFill>
          <a:blip r:embed="rId3"/>
          <a:stretch/>
        </p:blipFill>
        <p:spPr>
          <a:xfrm>
            <a:off x="270360" y="196560"/>
            <a:ext cx="8644680" cy="307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47;p7"/>
          <p:cNvGrpSpPr/>
          <p:nvPr/>
        </p:nvGrpSpPr>
        <p:grpSpPr>
          <a:xfrm>
            <a:off x="84960" y="78480"/>
            <a:ext cx="8973720" cy="4924800"/>
            <a:chOff x="84960" y="78480"/>
            <a:chExt cx="8973720" cy="4924800"/>
          </a:xfrm>
        </p:grpSpPr>
        <p:pic>
          <p:nvPicPr>
            <p:cNvPr id="90" name="Google Shape;48;p7"/>
            <p:cNvPicPr/>
            <p:nvPr/>
          </p:nvPicPr>
          <p:blipFill>
            <a:blip r:embed="rId2"/>
            <a:stretch/>
          </p:blipFill>
          <p:spPr>
            <a:xfrm>
              <a:off x="84960" y="78480"/>
              <a:ext cx="8973720" cy="4924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1" name="Google Shape;49;p7"/>
            <p:cNvPicPr/>
            <p:nvPr/>
          </p:nvPicPr>
          <p:blipFill>
            <a:blip r:embed="rId3"/>
            <a:stretch/>
          </p:blipFill>
          <p:spPr>
            <a:xfrm>
              <a:off x="270360" y="196560"/>
              <a:ext cx="8644680" cy="3078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3998160" cy="144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1609560" y="2066040"/>
            <a:ext cx="3823920" cy="253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54;p8"/>
          <p:cNvGrpSpPr/>
          <p:nvPr/>
        </p:nvGrpSpPr>
        <p:grpSpPr>
          <a:xfrm>
            <a:off x="84960" y="78480"/>
            <a:ext cx="8973720" cy="4924800"/>
            <a:chOff x="84960" y="78480"/>
            <a:chExt cx="8973720" cy="4924800"/>
          </a:xfrm>
        </p:grpSpPr>
        <p:pic>
          <p:nvPicPr>
            <p:cNvPr id="96" name="Google Shape;55;p8"/>
            <p:cNvPicPr/>
            <p:nvPr/>
          </p:nvPicPr>
          <p:blipFill>
            <a:blip r:embed="rId2"/>
            <a:stretch/>
          </p:blipFill>
          <p:spPr>
            <a:xfrm>
              <a:off x="84960" y="78480"/>
              <a:ext cx="8973720" cy="4924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7" name="Google Shape;56;p8"/>
            <p:cNvPicPr/>
            <p:nvPr/>
          </p:nvPicPr>
          <p:blipFill>
            <a:blip r:embed="rId3"/>
            <a:stretch/>
          </p:blipFill>
          <p:spPr>
            <a:xfrm>
              <a:off x="270360" y="196560"/>
              <a:ext cx="8644680" cy="3078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388160" y="1307160"/>
            <a:ext cx="63673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59;p9"/>
          <p:cNvGrpSpPr/>
          <p:nvPr/>
        </p:nvGrpSpPr>
        <p:grpSpPr>
          <a:xfrm>
            <a:off x="84960" y="78480"/>
            <a:ext cx="8973720" cy="4924800"/>
            <a:chOff x="84960" y="78480"/>
            <a:chExt cx="8973720" cy="4924800"/>
          </a:xfrm>
        </p:grpSpPr>
        <p:pic>
          <p:nvPicPr>
            <p:cNvPr id="100" name="Google Shape;60;p9"/>
            <p:cNvPicPr/>
            <p:nvPr/>
          </p:nvPicPr>
          <p:blipFill>
            <a:blip r:embed="rId2"/>
            <a:stretch/>
          </p:blipFill>
          <p:spPr>
            <a:xfrm>
              <a:off x="84960" y="78480"/>
              <a:ext cx="8973720" cy="4924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1" name="Google Shape;61;p9"/>
            <p:cNvPicPr/>
            <p:nvPr/>
          </p:nvPicPr>
          <p:blipFill>
            <a:blip r:embed="rId3"/>
            <a:stretch/>
          </p:blipFill>
          <p:spPr>
            <a:xfrm>
              <a:off x="270360" y="196560"/>
              <a:ext cx="8644680" cy="3078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609480" y="847800"/>
            <a:ext cx="5057280" cy="2466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hu-HU" sz="5600" b="0" u="none" strike="noStrike" dirty="0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Project</a:t>
            </a:r>
            <a:br>
              <a:rPr lang="hu-HU" sz="5600" b="0" u="none" strike="noStrike" dirty="0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</a:br>
            <a:r>
              <a:rPr lang="hu-HU" sz="5600" b="0" u="none" strike="noStrike" dirty="0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pBB</a:t>
            </a:r>
            <a:endParaRPr lang="fr-FR" sz="5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subTitle"/>
          </p:nvPr>
        </p:nvSpPr>
        <p:spPr>
          <a:xfrm>
            <a:off x="609480" y="3362400"/>
            <a:ext cx="4352400" cy="1133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800" b="0" u="none" strike="noStrike" dirty="0">
                <a:solidFill>
                  <a:schemeClr val="dk1"/>
                </a:solidFill>
                <a:effectLst/>
                <a:uFillTx/>
                <a:latin typeface="Roboto Mono"/>
                <a:ea typeface="Roboto Mono"/>
              </a:rPr>
              <a:t>By Alex, David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5" name="Google Shape;182;p28"/>
          <p:cNvSpPr/>
          <p:nvPr/>
        </p:nvSpPr>
        <p:spPr>
          <a:xfrm>
            <a:off x="438120" y="209520"/>
            <a:ext cx="4476240" cy="26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6FEEF1-9ED2-34AF-00E5-492B46ABAF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1284817"/>
            <a:ext cx="2853267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15"/>
          <p:cNvSpPr/>
          <p:nvPr/>
        </p:nvSpPr>
        <p:spPr>
          <a:xfrm>
            <a:off x="476280" y="579021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VT323"/>
              </a:rPr>
              <a:t>Introduction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476280" y="119079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hu-HU" sz="12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 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0250E9-E514-151B-7399-F8D3BD80DD36}"/>
              </a:ext>
            </a:extLst>
          </p:cNvPr>
          <p:cNvSpPr txBox="1"/>
          <p:nvPr/>
        </p:nvSpPr>
        <p:spPr>
          <a:xfrm>
            <a:off x="476280" y="1355271"/>
            <a:ext cx="8191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Ebben a játékban egy illegális kisebb gyógyszerüzemet kell menedzselni!</a:t>
            </a:r>
          </a:p>
          <a:p>
            <a:r>
              <a:rPr lang="hu-HU" dirty="0"/>
              <a:t>Pénztmosni! Majd bővíteni az üzemet és a kitermelést! </a:t>
            </a:r>
          </a:p>
          <a:p>
            <a:endParaRPr lang="hu-HU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18"/>
          <p:cNvSpPr/>
          <p:nvPr/>
        </p:nvSpPr>
        <p:spPr>
          <a:xfrm>
            <a:off x="2762460" y="185751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 dirty="0">
                <a:solidFill>
                  <a:schemeClr val="dk1"/>
                </a:solidFill>
                <a:effectLst/>
                <a:uFillTx/>
                <a:latin typeface="VT323"/>
              </a:rPr>
              <a:t>Game Design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20"/>
          <p:cNvSpPr/>
          <p:nvPr/>
        </p:nvSpPr>
        <p:spPr>
          <a:xfrm>
            <a:off x="476280" y="7354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VT323"/>
              </a:rPr>
              <a:t>Art Style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2" name="Rectangle 121"/>
          <p:cNvSpPr/>
          <p:nvPr/>
        </p:nvSpPr>
        <p:spPr>
          <a:xfrm>
            <a:off x="476280" y="164178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hu-HU" sz="1600" dirty="0">
                <a:solidFill>
                  <a:srgbClr val="000000"/>
                </a:solidFill>
                <a:latin typeface="OpenSymbol"/>
              </a:rPr>
              <a:t>Kinézet: a pixel „style”-t alalmaztuk legtöbb helyen (Psx grafika).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hu-HU" sz="1600" dirty="0">
                <a:solidFill>
                  <a:srgbClr val="000000"/>
                </a:solidFill>
                <a:latin typeface="OpenSymbol"/>
              </a:rPr>
              <a:t>Képnagyság/resolution: 256x256 pixel . 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22"/>
          <p:cNvSpPr/>
          <p:nvPr/>
        </p:nvSpPr>
        <p:spPr>
          <a:xfrm>
            <a:off x="476280" y="7066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VT323"/>
              </a:rPr>
              <a:t>Mechanics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4" name="Rectangle 123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B6C8B2-138A-037F-4A1A-DFB649D37B5B}"/>
              </a:ext>
            </a:extLst>
          </p:cNvPr>
          <p:cNvSpPr txBox="1"/>
          <p:nvPr/>
        </p:nvSpPr>
        <p:spPr>
          <a:xfrm>
            <a:off x="476280" y="1396093"/>
            <a:ext cx="82595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Sell: A legyártot gyógyszereket elbírjuk adni!</a:t>
            </a:r>
          </a:p>
          <a:p>
            <a:r>
              <a:rPr lang="hu-HU" dirty="0"/>
              <a:t>Supply Buying: Venni anyagot amiből előállítjuk a gyogyszereket!ű</a:t>
            </a:r>
          </a:p>
          <a:p>
            <a:r>
              <a:rPr lang="hu-HU" dirty="0"/>
              <a:t>Vegyél fel munkásokat!</a:t>
            </a:r>
          </a:p>
          <a:p>
            <a:r>
              <a:rPr lang="hu-HU" dirty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124"/>
          <p:cNvSpPr/>
          <p:nvPr/>
        </p:nvSpPr>
        <p:spPr>
          <a:xfrm>
            <a:off x="3238740" y="605816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VT323"/>
              </a:rPr>
              <a:t>Level Layout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3238740" y="1284634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hu-HU" sz="1200" dirty="0">
                <a:solidFill>
                  <a:schemeClr val="dk1"/>
                </a:solidFill>
                <a:latin typeface="Roboto Mono"/>
              </a:rPr>
              <a:t>Több színtet is ell lehet értni! 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128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 dirty="0">
                <a:solidFill>
                  <a:schemeClr val="dk1"/>
                </a:solidFill>
                <a:effectLst/>
                <a:uFillTx/>
                <a:latin typeface="VT323"/>
              </a:rPr>
              <a:t>Development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30" name="image69cc0bee9d816" descr="image69cc0bee9d81c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30"/>
          <p:cNvSpPr/>
          <p:nvPr/>
        </p:nvSpPr>
        <p:spPr>
          <a:xfrm>
            <a:off x="476280" y="764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u-HU" sz="3200" dirty="0">
                <a:solidFill>
                  <a:schemeClr val="dk1"/>
                </a:solidFill>
                <a:latin typeface="VT323"/>
              </a:rPr>
              <a:t>Hogyan/miben készült?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476280" y="1617300"/>
            <a:ext cx="830052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r>
              <a:rPr lang="hu-HU" sz="1600" b="1" u="sng" dirty="0"/>
              <a:t>UNITY</a:t>
            </a:r>
          </a:p>
          <a:p>
            <a:r>
              <a:rPr lang="hu-HU" sz="1600" b="1" dirty="0"/>
              <a:t>Miért jó az Unity?</a:t>
            </a:r>
          </a:p>
          <a:p>
            <a:r>
              <a:rPr lang="hu-HU" sz="1600" b="1" dirty="0"/>
              <a:t>-Platformfüggetlen</a:t>
            </a:r>
            <a:r>
              <a:rPr lang="hu-HU" sz="1600" dirty="0"/>
              <a:t>: egyszerre fejleszthetsz PC‑re, mobilra, konzolokra és még VR‑ra is.</a:t>
            </a:r>
          </a:p>
          <a:p>
            <a:r>
              <a:rPr lang="hu-HU" sz="1600" b="1" dirty="0"/>
              <a:t>-Könnyen tanulható</a:t>
            </a:r>
            <a:r>
              <a:rPr lang="hu-HU" sz="1600" dirty="0"/>
              <a:t>:tutorialok, rengeteg oktatóanyag és aktív közösség.</a:t>
            </a:r>
          </a:p>
          <a:p>
            <a:r>
              <a:rPr lang="hu-HU" sz="1600" b="1" dirty="0"/>
              <a:t>-Erős grafikai motor</a:t>
            </a:r>
            <a:r>
              <a:rPr lang="hu-HU" sz="1600" dirty="0"/>
              <a:t>: modern 2D és 3D grafika (árnyékok), real time rendering </a:t>
            </a:r>
          </a:p>
          <a:p>
            <a:r>
              <a:rPr lang="hu-HU" sz="1600" dirty="0"/>
              <a:t>(valós idejű renderelés).</a:t>
            </a:r>
          </a:p>
          <a:p>
            <a:r>
              <a:rPr lang="hu-HU" sz="1600" b="1" dirty="0"/>
              <a:t>-Asset Store</a:t>
            </a:r>
            <a:r>
              <a:rPr lang="hu-HU" sz="1600" dirty="0"/>
              <a:t>: kész modellek, kódcsomagok és eszközök gyorsíthatják a fejlesztést.</a:t>
            </a:r>
          </a:p>
          <a:p>
            <a:r>
              <a:rPr lang="hu-HU" sz="1600" b="1" dirty="0"/>
              <a:t>-Könnyű programozás</a:t>
            </a:r>
            <a:r>
              <a:rPr lang="hu-HU" sz="1600" dirty="0"/>
              <a:t>: C nyelv, jó API.</a:t>
            </a:r>
          </a:p>
          <a:p>
            <a:r>
              <a:rPr lang="hu-HU" sz="1600" b="1" dirty="0"/>
              <a:t>-Széles körben használt</a:t>
            </a:r>
            <a:r>
              <a:rPr lang="hu-HU" sz="1600" dirty="0"/>
              <a:t>: iparági standard, sok játék unity-ben készült.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132"/>
          <p:cNvSpPr/>
          <p:nvPr/>
        </p:nvSpPr>
        <p:spPr>
          <a:xfrm>
            <a:off x="476280" y="611746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u-HU" sz="3200" dirty="0">
                <a:solidFill>
                  <a:schemeClr val="dk1"/>
                </a:solidFill>
                <a:latin typeface="VT323"/>
              </a:rPr>
              <a:t>Tovább fejlesztések ,if (budget &gt; 0)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4" name="Rectangle 133"/>
          <p:cNvSpPr/>
          <p:nvPr/>
        </p:nvSpPr>
        <p:spPr>
          <a:xfrm>
            <a:off x="476280" y="136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B980EF-D4A8-4731-4C63-B3B74904E83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38120" y="1548794"/>
            <a:ext cx="8229240" cy="2982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1600" dirty="0"/>
              <a:t>Több gyógyszer típus, munkások ,karakter kinézet,</a:t>
            </a:r>
          </a:p>
          <a:p>
            <a:pPr marL="0" indent="0">
              <a:buNone/>
            </a:pPr>
            <a:r>
              <a:rPr lang="hu-HU" sz="1600" dirty="0"/>
              <a:t> újabb helyek... és akár multiplayer is 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585720" y="1161956"/>
            <a:ext cx="3921480" cy="615553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ctr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2800" dirty="0">
                <a:solidFill>
                  <a:schemeClr val="dk1"/>
                </a:solidFill>
                <a:latin typeface="Arial"/>
              </a:rPr>
              <a:t>Köszönjük a figyelmet!</a:t>
            </a:r>
            <a:endParaRPr lang="fr-FR" sz="2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subTitle"/>
          </p:nvPr>
        </p:nvSpPr>
        <p:spPr>
          <a:xfrm>
            <a:off x="666720" y="1927468"/>
            <a:ext cx="3685680" cy="36933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EF069F-EA3C-4659-761D-54CB579A0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802" y="781163"/>
            <a:ext cx="4124880" cy="41310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y Presentation Template">
  <a:themeElements>
    <a:clrScheme name="Simple Light">
      <a:dk1>
        <a:srgbClr val="191919"/>
      </a:dk1>
      <a:lt1>
        <a:srgbClr val="EFEFEF"/>
      </a:lt1>
      <a:dk2>
        <a:srgbClr val="707070"/>
      </a:dk2>
      <a:lt2>
        <a:srgbClr val="C1C1B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</TotalTime>
  <Words>221</Words>
  <Application>Microsoft Office PowerPoint</Application>
  <PresentationFormat>On-screen Show (16:9)</PresentationFormat>
  <Paragraphs>32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OpenSymbol</vt:lpstr>
      <vt:lpstr>Roboto Mono</vt:lpstr>
      <vt:lpstr>Symbol</vt:lpstr>
      <vt:lpstr>VT323</vt:lpstr>
      <vt:lpstr>Wingdings</vt:lpstr>
      <vt:lpstr>My Presentation Template</vt:lpstr>
      <vt:lpstr>Project pBB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Köszönjük a figyelmet!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VD Dy_Xer</cp:lastModifiedBy>
  <cp:revision>3</cp:revision>
  <dcterms:modified xsi:type="dcterms:W3CDTF">2026-03-31T21:47:58Z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2026-03-31T18:01:17Z</dcterms:created>
  <dc:creator>Unknown Creator</dc:creator>
  <dc:description/>
  <dc:language>en-US</dc:language>
  <cp:lastModifiedBy>Unknown Creator</cp:lastModifiedBy>
  <dcterms:modified xsi:type="dcterms:W3CDTF">2026-03-31T18:01:17Z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