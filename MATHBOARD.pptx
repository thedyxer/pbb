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0"/>
  </p:notesMasterIdLst>
  <p:sldIdLst>
    <p:sldId id="278" r:id="rId5"/>
    <p:sldId id="281" r:id="rId6"/>
    <p:sldId id="279" r:id="rId7"/>
    <p:sldId id="280" r:id="rId8"/>
    <p:sldId id="28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89" d="100"/>
          <a:sy n="89" d="100"/>
        </p:scale>
        <p:origin x="13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3306" y="0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MathBoard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8390" y="5253948"/>
            <a:ext cx="5003610" cy="1491626"/>
          </a:xfrm>
        </p:spPr>
        <p:txBody>
          <a:bodyPr>
            <a:normAutofit/>
          </a:bodyPr>
          <a:lstStyle/>
          <a:p>
            <a:pPr algn="l"/>
            <a:r>
              <a:rPr lang="hu-HU" sz="2300" dirty="0"/>
              <a:t>V. Dávid: 2ITM</a:t>
            </a:r>
            <a:br>
              <a:rPr lang="hu-HU" sz="2300"/>
            </a:br>
            <a:r>
              <a:rPr lang="hu-HU" sz="2300"/>
              <a:t>M. Alekszandar</a:t>
            </a:r>
            <a:r>
              <a:rPr lang="hu-HU" sz="2300" dirty="0"/>
              <a:t>: 2TMM</a:t>
            </a:r>
          </a:p>
          <a:p>
            <a:pPr algn="l"/>
            <a:r>
              <a:rPr lang="hu-HU" dirty="0"/>
              <a:t>Mentor: Lajkó Dénes</a:t>
            </a:r>
            <a:endParaRPr lang="en-US" sz="2300" dirty="0"/>
          </a:p>
        </p:txBody>
      </p:sp>
      <p:pic>
        <p:nvPicPr>
          <p:cNvPr id="1026" name="Picture 2" descr="Техничка школа &quot;Иван Сарић&quot; Суботица">
            <a:extLst>
              <a:ext uri="{FF2B5EF4-FFF2-40B4-BE49-F238E27FC236}">
                <a16:creationId xmlns:a16="http://schemas.microsoft.com/office/drawing/2014/main" id="{D69645BF-A1D4-2F3D-869C-5DE5D9A13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290" y="100178"/>
            <a:ext cx="3238500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746E3-F6B1-FCC7-EDC0-31DBC6145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Mire lehet használni 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99EDA-A183-A3DC-C724-C1CDD643A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144730" cy="3714749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hu-HU" sz="3200" dirty="0"/>
              <a:t>A weboldalra több ember is feltud egyszerre lépni és ezért lehet együt matekot tanulni (amire lett tervezve), vagy mást tanulni , tervezni , akár rajzolni is, stb. </a:t>
            </a:r>
            <a:br>
              <a:rPr lang="hu-HU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1134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E89D73-9F50-6636-918F-657FE75E4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9EE05B-15F3-A7E0-30EA-829DD8D4D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Miben/hogyan készült?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B7DD7-ACDD-10A7-5B52-646AA73C0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6900" indent="0">
              <a:buNone/>
            </a:pPr>
            <a:r>
              <a:rPr lang="hu-HU" b="1" dirty="0">
                <a:solidFill>
                  <a:schemeClr val="bg1"/>
                </a:solidFill>
                <a:effectLst/>
              </a:rPr>
              <a:t>HTML-el:A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weboldalak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alapja</a:t>
            </a:r>
            <a:r>
              <a:rPr lang="en-US" b="1" dirty="0">
                <a:solidFill>
                  <a:schemeClr val="bg1"/>
                </a:solidFill>
                <a:effectLst/>
              </a:rPr>
              <a:t>. Olyan, mint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egy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váz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vagy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szerkezet</a:t>
            </a:r>
            <a:r>
              <a:rPr lang="en-US" b="1" dirty="0">
                <a:solidFill>
                  <a:schemeClr val="bg1"/>
                </a:solidFill>
                <a:effectLst/>
              </a:rPr>
              <a:t>,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ami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leírja</a:t>
            </a:r>
            <a:r>
              <a:rPr lang="en-US" b="1" dirty="0">
                <a:solidFill>
                  <a:schemeClr val="bg1"/>
                </a:solidFill>
                <a:effectLst/>
              </a:rPr>
              <a:t>,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hogy</a:t>
            </a:r>
            <a:r>
              <a:rPr lang="en-US" b="1" dirty="0">
                <a:solidFill>
                  <a:schemeClr val="bg1"/>
                </a:solidFill>
                <a:effectLst/>
              </a:rPr>
              <a:t> mi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jelenjen</a:t>
            </a:r>
            <a:r>
              <a:rPr lang="en-US" b="1" dirty="0">
                <a:solidFill>
                  <a:schemeClr val="bg1"/>
                </a:solidFill>
                <a:effectLst/>
              </a:rPr>
              <a:t> meg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az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oldalon</a:t>
            </a:r>
            <a:r>
              <a:rPr lang="en-US" b="1" dirty="0">
                <a:solidFill>
                  <a:schemeClr val="bg1"/>
                </a:solidFill>
                <a:effectLst/>
              </a:rPr>
              <a:t> (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szöveg</a:t>
            </a:r>
            <a:r>
              <a:rPr lang="en-US" b="1" dirty="0">
                <a:solidFill>
                  <a:schemeClr val="bg1"/>
                </a:solidFill>
                <a:effectLst/>
              </a:rPr>
              <a:t>,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kép</a:t>
            </a:r>
            <a:r>
              <a:rPr lang="en-US" b="1" dirty="0">
                <a:solidFill>
                  <a:schemeClr val="bg1"/>
                </a:solidFill>
                <a:effectLst/>
              </a:rPr>
              <a:t>, link,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táblázat</a:t>
            </a:r>
            <a:r>
              <a:rPr lang="hu-HU" b="1" dirty="0">
                <a:solidFill>
                  <a:schemeClr val="bg1"/>
                </a:solidFill>
                <a:effectLst/>
              </a:rPr>
              <a:t>, stb.</a:t>
            </a:r>
            <a:r>
              <a:rPr lang="en-US" b="1" dirty="0">
                <a:solidFill>
                  <a:schemeClr val="bg1"/>
                </a:solidFill>
                <a:effectLst/>
              </a:rPr>
              <a:t>). Nem</a:t>
            </a:r>
            <a:r>
              <a:rPr lang="hu-HU" b="1" dirty="0">
                <a:solidFill>
                  <a:schemeClr val="bg1"/>
                </a:solidFill>
                <a:effectLst/>
              </a:rPr>
              <a:t> pont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programozási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nyelv</a:t>
            </a:r>
            <a:r>
              <a:rPr lang="en-US" b="1" dirty="0">
                <a:solidFill>
                  <a:schemeClr val="bg1"/>
                </a:solidFill>
                <a:effectLst/>
              </a:rPr>
              <a:t>,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hanem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jelölőnyelv</a:t>
            </a:r>
            <a:r>
              <a:rPr lang="en-US" b="1" dirty="0">
                <a:solidFill>
                  <a:schemeClr val="bg1"/>
                </a:solidFill>
                <a:effectLst/>
              </a:rPr>
              <a:t>.</a:t>
            </a:r>
            <a:endParaRPr lang="hu-HU" b="1" dirty="0">
              <a:solidFill>
                <a:schemeClr val="bg1"/>
              </a:solidFill>
              <a:effectLst/>
            </a:endParaRPr>
          </a:p>
          <a:p>
            <a:pPr marL="36900" indent="0">
              <a:buNone/>
            </a:pPr>
            <a:br>
              <a:rPr lang="hu-HU" b="1" dirty="0">
                <a:solidFill>
                  <a:schemeClr val="bg1"/>
                </a:solidFill>
                <a:effectLst/>
              </a:rPr>
            </a:br>
            <a:r>
              <a:rPr lang="hu-HU" b="1" dirty="0">
                <a:solidFill>
                  <a:schemeClr val="bg1"/>
                </a:solidFill>
                <a:effectLst/>
              </a:rPr>
              <a:t>JAVASCRIPT-el:Ez ad életet a weboldalnak. Egy programozási nyelv, amivel interaktív funkciókat lehet készíteni (például gombnyomásra változik valami, animációk, űrlapellenőrzés). A browserben (böngészőben) fut.</a:t>
            </a:r>
          </a:p>
          <a:p>
            <a:pPr marL="36900" indent="0">
              <a:buNone/>
            </a:pPr>
            <a:br>
              <a:rPr lang="hu-HU" b="1" dirty="0">
                <a:solidFill>
                  <a:schemeClr val="bg1"/>
                </a:solidFill>
                <a:effectLst/>
              </a:rPr>
            </a:br>
            <a:r>
              <a:rPr lang="hu-HU" b="1" dirty="0">
                <a:solidFill>
                  <a:schemeClr val="bg1"/>
                </a:solidFill>
                <a:effectLst/>
              </a:rPr>
              <a:t>PYTON-al:</a:t>
            </a:r>
            <a:r>
              <a:rPr lang="en-US" b="1" dirty="0">
                <a:solidFill>
                  <a:schemeClr val="bg1"/>
                </a:solidFill>
                <a:effectLst/>
              </a:rPr>
              <a:t>Ez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egy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általános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célú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programozási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nyelv</a:t>
            </a:r>
            <a:r>
              <a:rPr lang="en-US" b="1" dirty="0">
                <a:solidFill>
                  <a:schemeClr val="bg1"/>
                </a:solidFill>
                <a:effectLst/>
              </a:rPr>
              <a:t>,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amit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nem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csak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webre</a:t>
            </a:r>
            <a:r>
              <a:rPr lang="en-US" b="1" dirty="0">
                <a:solidFill>
                  <a:schemeClr val="bg1"/>
                </a:solidFill>
                <a:effectLst/>
              </a:rPr>
              <a:t>,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hanem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adatelemzésre</a:t>
            </a:r>
            <a:r>
              <a:rPr lang="en-US" b="1" dirty="0">
                <a:solidFill>
                  <a:schemeClr val="bg1"/>
                </a:solidFill>
                <a:effectLst/>
              </a:rPr>
              <a:t>,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automatizálásra</a:t>
            </a:r>
            <a:r>
              <a:rPr lang="en-US" b="1" dirty="0">
                <a:solidFill>
                  <a:schemeClr val="bg1"/>
                </a:solidFill>
                <a:effectLst/>
              </a:rPr>
              <a:t>,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játékfejlesztésre</a:t>
            </a:r>
            <a:r>
              <a:rPr lang="en-US" b="1" dirty="0">
                <a:solidFill>
                  <a:schemeClr val="bg1"/>
                </a:solidFill>
                <a:effectLst/>
              </a:rPr>
              <a:t> is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használnak</a:t>
            </a:r>
            <a:r>
              <a:rPr lang="en-US" b="1" dirty="0">
                <a:solidFill>
                  <a:schemeClr val="bg1"/>
                </a:solidFill>
                <a:effectLst/>
              </a:rPr>
              <a:t>.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Könnyen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tanulhat</a:t>
            </a:r>
            <a:r>
              <a:rPr lang="hu-HU" b="1" dirty="0">
                <a:solidFill>
                  <a:schemeClr val="bg1"/>
                </a:solidFill>
                <a:effectLst/>
              </a:rPr>
              <a:t>o és</a:t>
            </a:r>
            <a:r>
              <a:rPr lang="en-US" b="1" dirty="0">
                <a:solidFill>
                  <a:schemeClr val="bg1"/>
                </a:solidFill>
                <a:effectLst/>
              </a:rPr>
              <a:t> </a:t>
            </a:r>
            <a:r>
              <a:rPr lang="hu-HU" b="1" dirty="0">
                <a:solidFill>
                  <a:schemeClr val="bg1"/>
                </a:solidFill>
                <a:effectLst/>
              </a:rPr>
              <a:t>megérthető nyelv.</a:t>
            </a:r>
            <a:endParaRPr lang="en-US" b="1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0110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82AD9-2564-CF5E-96AE-8FB68579E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76450"/>
            <a:ext cx="6315057" cy="37337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944731-AB76-47C0-2DEA-AB708EE61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62244"/>
            <a:ext cx="10353762" cy="1257300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Funkciók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81E8A-D3B4-A1FD-A5E3-329C33C6D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2076450"/>
            <a:ext cx="4877405" cy="3714749"/>
          </a:xfrm>
        </p:spPr>
        <p:txBody>
          <a:bodyPr>
            <a:normAutofit fontScale="92500"/>
          </a:bodyPr>
          <a:lstStyle/>
          <a:p>
            <a:pPr marL="36900" indent="0">
              <a:buNone/>
            </a:pPr>
            <a:r>
              <a:rPr lang="hu-HU" dirty="0"/>
              <a:t>Eraser-(Törlő): ki lehet törölni a rajzokat</a:t>
            </a:r>
          </a:p>
          <a:p>
            <a:pPr marL="36900" indent="0">
              <a:buNone/>
            </a:pPr>
            <a:r>
              <a:rPr lang="hu-HU" dirty="0"/>
              <a:t>Clear Board:a z egész táblát törli (reseteli)</a:t>
            </a:r>
          </a:p>
          <a:p>
            <a:pPr marL="36900" indent="0">
              <a:buNone/>
            </a:pPr>
            <a:r>
              <a:rPr lang="hu-HU" dirty="0"/>
              <a:t>Clear Mine: csak a saját razokat törli ki</a:t>
            </a:r>
          </a:p>
          <a:p>
            <a:pPr marL="36900" indent="0">
              <a:buNone/>
            </a:pPr>
            <a:r>
              <a:rPr lang="hu-HU" dirty="0"/>
              <a:t>How to Use:át dob egy másik weboldalra ahol ki vannak írva a funkciók</a:t>
            </a:r>
          </a:p>
          <a:p>
            <a:pPr marL="36900" indent="0">
              <a:buNone/>
            </a:pPr>
            <a:br>
              <a:rPr lang="hu-H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116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D890AC-45BF-5C7F-3CAF-40FB88334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DC23A7-1EDA-58C1-11EE-33DAE01E6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Tovább fejlesztések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B019B-7960-8A4E-456C-34371C3EC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hu-HU" b="1" dirty="0">
                <a:solidFill>
                  <a:schemeClr val="bg1"/>
                </a:solidFill>
                <a:effectLst/>
              </a:rPr>
              <a:t>Lennének alakzotok pl. kör, csillag, négyzet...</a:t>
            </a:r>
          </a:p>
          <a:p>
            <a:pPr marL="36900" indent="0">
              <a:buNone/>
            </a:pPr>
            <a:r>
              <a:rPr lang="hu-HU" b="1" dirty="0">
                <a:solidFill>
                  <a:schemeClr val="bg1"/>
                </a:solidFill>
                <a:effectLst/>
              </a:rPr>
              <a:t>Undo button: vissza lehet hajtani 1 rajzal előbbre </a:t>
            </a:r>
          </a:p>
          <a:p>
            <a:pPr marL="3690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9335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{EAA44AB4-FE25-4A8D-86FE-41BE36BDCB78}TFe742eee6-54b3-45e8-a03d-f3d997f9b6caf6c338c2_win32-3734725ae7e2</Template>
  <TotalTime>144</TotalTime>
  <Words>233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Goudy Old Style</vt:lpstr>
      <vt:lpstr>Wingdings 2</vt:lpstr>
      <vt:lpstr>SlateVTI</vt:lpstr>
      <vt:lpstr>MathBoard</vt:lpstr>
      <vt:lpstr>Mire lehet használni ?</vt:lpstr>
      <vt:lpstr>Miben/hogyan készült?</vt:lpstr>
      <vt:lpstr>Funkciók</vt:lpstr>
      <vt:lpstr>Tovább fejlesztések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Alex</dc:creator>
  <cp:lastModifiedBy>VD Dy_Xer</cp:lastModifiedBy>
  <cp:revision>5</cp:revision>
  <dcterms:created xsi:type="dcterms:W3CDTF">2026-04-26T19:39:37Z</dcterms:created>
  <dcterms:modified xsi:type="dcterms:W3CDTF">2026-04-27T20:21:04Z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